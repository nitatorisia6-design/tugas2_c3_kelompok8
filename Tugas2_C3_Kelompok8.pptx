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QND Pro Condensed" charset="1" panose="00000500000000000000"/>
      <p:regular r:id="rId14"/>
    </p:embeddedFont>
    <p:embeddedFont>
      <p:font typeface="TT Octosquares Condensed Bold" charset="1" panose="02010001040000080307"/>
      <p:regular r:id="rId15"/>
    </p:embeddedFont>
    <p:embeddedFont>
      <p:font typeface="TT Octosquares Condensed" charset="1" panose="02010001040000080307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09385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9793" y="-371903"/>
            <a:ext cx="16508415" cy="8907665"/>
          </a:xfrm>
          <a:custGeom>
            <a:avLst/>
            <a:gdLst/>
            <a:ahLst/>
            <a:cxnLst/>
            <a:rect r="r" b="b" t="t" l="l"/>
            <a:pathLst>
              <a:path h="8907665" w="16508415">
                <a:moveTo>
                  <a:pt x="0" y="0"/>
                </a:moveTo>
                <a:lnTo>
                  <a:pt x="16508414" y="0"/>
                </a:lnTo>
                <a:lnTo>
                  <a:pt x="16508414" y="8907666"/>
                </a:lnTo>
                <a:lnTo>
                  <a:pt x="0" y="8907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3735" y="3372298"/>
            <a:ext cx="12560531" cy="347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13300" spc="970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DATA-CENTERED ARCHITECTURE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5964013"/>
            <a:ext cx="4425553" cy="5143500"/>
          </a:xfrm>
          <a:custGeom>
            <a:avLst/>
            <a:gdLst/>
            <a:ahLst/>
            <a:cxnLst/>
            <a:rect r="r" b="b" t="t" l="l"/>
            <a:pathLst>
              <a:path h="5143500" w="4425553">
                <a:moveTo>
                  <a:pt x="0" y="0"/>
                </a:moveTo>
                <a:lnTo>
                  <a:pt x="4425553" y="0"/>
                </a:lnTo>
                <a:lnTo>
                  <a:pt x="442555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688931" y="2765945"/>
            <a:ext cx="2599069" cy="2631969"/>
          </a:xfrm>
          <a:custGeom>
            <a:avLst/>
            <a:gdLst/>
            <a:ahLst/>
            <a:cxnLst/>
            <a:rect r="r" b="b" t="t" l="l"/>
            <a:pathLst>
              <a:path h="2631969" w="2599069">
                <a:moveTo>
                  <a:pt x="2599069" y="0"/>
                </a:moveTo>
                <a:lnTo>
                  <a:pt x="0" y="0"/>
                </a:lnTo>
                <a:lnTo>
                  <a:pt x="0" y="2631969"/>
                </a:lnTo>
                <a:lnTo>
                  <a:pt x="2599069" y="2631969"/>
                </a:lnTo>
                <a:lnTo>
                  <a:pt x="259906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09385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579021">
            <a:off x="-1782135" y="-244236"/>
            <a:ext cx="5621671" cy="2850655"/>
          </a:xfrm>
          <a:custGeom>
            <a:avLst/>
            <a:gdLst/>
            <a:ahLst/>
            <a:cxnLst/>
            <a:rect r="r" b="b" t="t" l="l"/>
            <a:pathLst>
              <a:path h="2850655" w="5621671">
                <a:moveTo>
                  <a:pt x="0" y="0"/>
                </a:moveTo>
                <a:lnTo>
                  <a:pt x="5621670" y="0"/>
                </a:lnTo>
                <a:lnTo>
                  <a:pt x="5621670" y="2850655"/>
                </a:lnTo>
                <a:lnTo>
                  <a:pt x="0" y="285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1024" y="4465427"/>
            <a:ext cx="6184145" cy="1772788"/>
          </a:xfrm>
          <a:custGeom>
            <a:avLst/>
            <a:gdLst/>
            <a:ahLst/>
            <a:cxnLst/>
            <a:rect r="r" b="b" t="t" l="l"/>
            <a:pathLst>
              <a:path h="1772788" w="6184145">
                <a:moveTo>
                  <a:pt x="0" y="0"/>
                </a:moveTo>
                <a:lnTo>
                  <a:pt x="6184145" y="0"/>
                </a:lnTo>
                <a:lnTo>
                  <a:pt x="6184145" y="1772788"/>
                </a:lnTo>
                <a:lnTo>
                  <a:pt x="0" y="1772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1024" y="7173688"/>
            <a:ext cx="6184145" cy="1772788"/>
          </a:xfrm>
          <a:custGeom>
            <a:avLst/>
            <a:gdLst/>
            <a:ahLst/>
            <a:cxnLst/>
            <a:rect r="r" b="b" t="t" l="l"/>
            <a:pathLst>
              <a:path h="1772788" w="6184145">
                <a:moveTo>
                  <a:pt x="0" y="0"/>
                </a:moveTo>
                <a:lnTo>
                  <a:pt x="6184145" y="0"/>
                </a:lnTo>
                <a:lnTo>
                  <a:pt x="6184145" y="1772788"/>
                </a:lnTo>
                <a:lnTo>
                  <a:pt x="0" y="1772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94570" y="4465427"/>
            <a:ext cx="6184145" cy="1772788"/>
          </a:xfrm>
          <a:custGeom>
            <a:avLst/>
            <a:gdLst/>
            <a:ahLst/>
            <a:cxnLst/>
            <a:rect r="r" b="b" t="t" l="l"/>
            <a:pathLst>
              <a:path h="1772788" w="6184145">
                <a:moveTo>
                  <a:pt x="0" y="0"/>
                </a:moveTo>
                <a:lnTo>
                  <a:pt x="6184145" y="0"/>
                </a:lnTo>
                <a:lnTo>
                  <a:pt x="6184145" y="1772788"/>
                </a:lnTo>
                <a:lnTo>
                  <a:pt x="0" y="1772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94570" y="7173688"/>
            <a:ext cx="6184145" cy="1772788"/>
          </a:xfrm>
          <a:custGeom>
            <a:avLst/>
            <a:gdLst/>
            <a:ahLst/>
            <a:cxnLst/>
            <a:rect r="r" b="b" t="t" l="l"/>
            <a:pathLst>
              <a:path h="1772788" w="6184145">
                <a:moveTo>
                  <a:pt x="0" y="0"/>
                </a:moveTo>
                <a:lnTo>
                  <a:pt x="6184145" y="0"/>
                </a:lnTo>
                <a:lnTo>
                  <a:pt x="6184145" y="1772788"/>
                </a:lnTo>
                <a:lnTo>
                  <a:pt x="0" y="1772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100000">
            <a:off x="14448465" y="-244236"/>
            <a:ext cx="5621671" cy="2850655"/>
          </a:xfrm>
          <a:custGeom>
            <a:avLst/>
            <a:gdLst/>
            <a:ahLst/>
            <a:cxnLst/>
            <a:rect r="r" b="b" t="t" l="l"/>
            <a:pathLst>
              <a:path h="2850655" w="5621671">
                <a:moveTo>
                  <a:pt x="0" y="0"/>
                </a:moveTo>
                <a:lnTo>
                  <a:pt x="5621670" y="0"/>
                </a:lnTo>
                <a:lnTo>
                  <a:pt x="5621670" y="2850655"/>
                </a:lnTo>
                <a:lnTo>
                  <a:pt x="0" y="285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78483" y="4825693"/>
            <a:ext cx="4749227" cy="103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3"/>
              </a:lnSpc>
            </a:pPr>
            <a:r>
              <a:rPr lang="en-US" sz="3290" b="true">
                <a:solidFill>
                  <a:srgbClr val="000000"/>
                </a:solidFill>
                <a:latin typeface="TT Octosquares Condensed Bold"/>
                <a:ea typeface="TT Octosquares Condensed Bold"/>
                <a:cs typeface="TT Octosquares Condensed Bold"/>
                <a:sym typeface="TT Octosquares Condensed Bold"/>
              </a:rPr>
              <a:t>Audita Cahyani Amiruddin  13020230101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75847" y="4825693"/>
            <a:ext cx="4221591" cy="94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sz="3011" b="true">
                <a:solidFill>
                  <a:srgbClr val="000000"/>
                </a:solidFill>
                <a:latin typeface="TT Octosquares Condensed Bold"/>
                <a:ea typeface="TT Octosquares Condensed Bold"/>
                <a:cs typeface="TT Octosquares Condensed Bold"/>
                <a:sym typeface="TT Octosquares Condensed Bold"/>
              </a:rPr>
              <a:t>Wahyu Melanie Pratiwi     13020230028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8583" y="7548472"/>
            <a:ext cx="5289027" cy="99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3134" b="true">
                <a:solidFill>
                  <a:srgbClr val="000000"/>
                </a:solidFill>
                <a:latin typeface="TT Octosquares Condensed Bold"/>
                <a:ea typeface="TT Octosquares Condensed Bold"/>
                <a:cs typeface="TT Octosquares Condensed Bold"/>
                <a:sym typeface="TT Octosquares Condensed Bold"/>
              </a:rPr>
              <a:t>Nabilah Tika Muslihah Thahir     13020230045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54228" y="7552096"/>
            <a:ext cx="4464828" cy="9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184" b="true">
                <a:solidFill>
                  <a:srgbClr val="000000"/>
                </a:solidFill>
                <a:latin typeface="TT Octosquares Condensed Bold"/>
                <a:ea typeface="TT Octosquares Condensed Bold"/>
                <a:cs typeface="TT Octosquares Condensed Bold"/>
                <a:sym typeface="TT Octosquares Condensed Bold"/>
              </a:rPr>
              <a:t>Rizqi Ananda Jalil     13020230244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47325" y="2558314"/>
            <a:ext cx="13193349" cy="145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0"/>
              </a:lnSpc>
            </a:pPr>
            <a:r>
              <a:rPr lang="en-US" sz="14364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kelompok 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09385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46370" y="0"/>
            <a:ext cx="14395259" cy="9206968"/>
          </a:xfrm>
          <a:custGeom>
            <a:avLst/>
            <a:gdLst/>
            <a:ahLst/>
            <a:cxnLst/>
            <a:rect r="r" b="b" t="t" l="l"/>
            <a:pathLst>
              <a:path h="9206968" w="14395259">
                <a:moveTo>
                  <a:pt x="0" y="0"/>
                </a:moveTo>
                <a:lnTo>
                  <a:pt x="14395260" y="0"/>
                </a:lnTo>
                <a:lnTo>
                  <a:pt x="14395260" y="9206968"/>
                </a:lnTo>
                <a:lnTo>
                  <a:pt x="0" y="9206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450274" y="8520518"/>
            <a:ext cx="3837726" cy="1429553"/>
          </a:xfrm>
          <a:custGeom>
            <a:avLst/>
            <a:gdLst/>
            <a:ahLst/>
            <a:cxnLst/>
            <a:rect r="r" b="b" t="t" l="l"/>
            <a:pathLst>
              <a:path h="1429553" w="3837726">
                <a:moveTo>
                  <a:pt x="3837726" y="0"/>
                </a:moveTo>
                <a:lnTo>
                  <a:pt x="0" y="0"/>
                </a:lnTo>
                <a:lnTo>
                  <a:pt x="0" y="1429553"/>
                </a:lnTo>
                <a:lnTo>
                  <a:pt x="3837726" y="1429553"/>
                </a:lnTo>
                <a:lnTo>
                  <a:pt x="383772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69015" y="1028700"/>
            <a:ext cx="2807880" cy="2859106"/>
          </a:xfrm>
          <a:custGeom>
            <a:avLst/>
            <a:gdLst/>
            <a:ahLst/>
            <a:cxnLst/>
            <a:rect r="r" b="b" t="t" l="l"/>
            <a:pathLst>
              <a:path h="2859106" w="2807880">
                <a:moveTo>
                  <a:pt x="0" y="0"/>
                </a:moveTo>
                <a:lnTo>
                  <a:pt x="2807881" y="0"/>
                </a:lnTo>
                <a:lnTo>
                  <a:pt x="2807881" y="2859106"/>
                </a:lnTo>
                <a:lnTo>
                  <a:pt x="0" y="2859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48306" y="6219963"/>
            <a:ext cx="3686621" cy="1854063"/>
          </a:xfrm>
          <a:custGeom>
            <a:avLst/>
            <a:gdLst/>
            <a:ahLst/>
            <a:cxnLst/>
            <a:rect r="r" b="b" t="t" l="l"/>
            <a:pathLst>
              <a:path h="1854063" w="3686621">
                <a:moveTo>
                  <a:pt x="0" y="0"/>
                </a:moveTo>
                <a:lnTo>
                  <a:pt x="3686621" y="0"/>
                </a:lnTo>
                <a:lnTo>
                  <a:pt x="3686621" y="1854063"/>
                </a:lnTo>
                <a:lnTo>
                  <a:pt x="0" y="18540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45563" y="2358838"/>
            <a:ext cx="12523453" cy="641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95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Data-Cente</a:t>
            </a:r>
            <a:r>
              <a:rPr lang="en-US" sz="295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red Architecture (DCA) adalah pendekatan arsitektur perangkat lunak di mana seluruh sistem dibangun dengan data sebagai pusat utama aktivitas. Semua komponen sistem — seperti modul, layanan, dan aplikasi — berinteraksi dengan satu repositori data bersama.</a:t>
            </a:r>
          </a:p>
          <a:p>
            <a:pPr algn="l">
              <a:lnSpc>
                <a:spcPts val="3690"/>
              </a:lnSpc>
            </a:pPr>
            <a:r>
              <a:rPr lang="en-US" sz="295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Hal ini memastikan bahwa setiap informasi yang diolah, disimpan, dan diakses selalu sinkron dan terjaga integritasnya.</a:t>
            </a:r>
          </a:p>
          <a:p>
            <a:pPr algn="l">
              <a:lnSpc>
                <a:spcPts val="3690"/>
              </a:lnSpc>
            </a:pPr>
            <a:r>
              <a:rPr lang="en-US" sz="295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Secara historis, konsep DCA mulai berkembang sejak era 1970–1980-an bersamaan dengan munculnya Database Management System (DBMS). Awalnya digunakan untuk mengatasi kompleksitas data dalam sistem besar seperti perbankan dan pemerintahan.</a:t>
            </a:r>
          </a:p>
          <a:p>
            <a:pPr algn="l">
              <a:lnSpc>
                <a:spcPts val="3690"/>
              </a:lnSpc>
            </a:pPr>
            <a:r>
              <a:rPr lang="en-US" sz="295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Seiring kemajuan teknologi, DCA kemudian dikombinasikan dengan konsep Client-Server, Cloud Computing, dan Data Governance sehingga menjadi fondasi utama dalam arsitektur modern seperti Enterprise Data Architecture dan Big Data Systems.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55602" y="654656"/>
            <a:ext cx="8389424" cy="87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9"/>
              </a:lnSpc>
            </a:pPr>
            <a:r>
              <a:rPr lang="en-US" sz="8650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DEFINISI &amp; SEJARAH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09385" y="-701038"/>
            <a:ext cx="23506771" cy="11753385"/>
            <a:chOff x="0" y="0"/>
            <a:chExt cx="31342361" cy="15671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671180" y="0"/>
              <a:ext cx="15671180" cy="15671180"/>
            </a:xfrm>
            <a:custGeom>
              <a:avLst/>
              <a:gdLst/>
              <a:ahLst/>
              <a:cxnLst/>
              <a:rect r="r" b="b" t="t" l="l"/>
              <a:pathLst>
                <a:path h="15671180" w="15671180">
                  <a:moveTo>
                    <a:pt x="0" y="0"/>
                  </a:moveTo>
                  <a:lnTo>
                    <a:pt x="15671181" y="0"/>
                  </a:lnTo>
                  <a:lnTo>
                    <a:pt x="15671181" y="15671180"/>
                  </a:lnTo>
                  <a:lnTo>
                    <a:pt x="0" y="15671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71180" cy="15671180"/>
            </a:xfrm>
            <a:custGeom>
              <a:avLst/>
              <a:gdLst/>
              <a:ahLst/>
              <a:cxnLst/>
              <a:rect r="r" b="b" t="t" l="l"/>
              <a:pathLst>
                <a:path h="15671180" w="15671180">
                  <a:moveTo>
                    <a:pt x="0" y="0"/>
                  </a:moveTo>
                  <a:lnTo>
                    <a:pt x="15671180" y="0"/>
                  </a:lnTo>
                  <a:lnTo>
                    <a:pt x="15671180" y="15671180"/>
                  </a:lnTo>
                  <a:lnTo>
                    <a:pt x="0" y="15671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898737" y="469079"/>
            <a:ext cx="12490526" cy="9961195"/>
          </a:xfrm>
          <a:custGeom>
            <a:avLst/>
            <a:gdLst/>
            <a:ahLst/>
            <a:cxnLst/>
            <a:rect r="r" b="b" t="t" l="l"/>
            <a:pathLst>
              <a:path h="9961195" w="12490526">
                <a:moveTo>
                  <a:pt x="0" y="0"/>
                </a:moveTo>
                <a:lnTo>
                  <a:pt x="12490526" y="0"/>
                </a:lnTo>
                <a:lnTo>
                  <a:pt x="12490526" y="9961194"/>
                </a:lnTo>
                <a:lnTo>
                  <a:pt x="0" y="9961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11979" y="6028292"/>
            <a:ext cx="3081358" cy="1294170"/>
          </a:xfrm>
          <a:custGeom>
            <a:avLst/>
            <a:gdLst/>
            <a:ahLst/>
            <a:cxnLst/>
            <a:rect r="r" b="b" t="t" l="l"/>
            <a:pathLst>
              <a:path h="1294170" w="3081358">
                <a:moveTo>
                  <a:pt x="0" y="0"/>
                </a:moveTo>
                <a:lnTo>
                  <a:pt x="3081358" y="0"/>
                </a:lnTo>
                <a:lnTo>
                  <a:pt x="3081358" y="1294170"/>
                </a:lnTo>
                <a:lnTo>
                  <a:pt x="0" y="1294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18621" y="3061704"/>
            <a:ext cx="3081358" cy="1294170"/>
          </a:xfrm>
          <a:custGeom>
            <a:avLst/>
            <a:gdLst/>
            <a:ahLst/>
            <a:cxnLst/>
            <a:rect r="r" b="b" t="t" l="l"/>
            <a:pathLst>
              <a:path h="1294170" w="3081358">
                <a:moveTo>
                  <a:pt x="0" y="0"/>
                </a:moveTo>
                <a:lnTo>
                  <a:pt x="3081358" y="0"/>
                </a:lnTo>
                <a:lnTo>
                  <a:pt x="3081358" y="1294170"/>
                </a:lnTo>
                <a:lnTo>
                  <a:pt x="0" y="1294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1745720"/>
            <a:ext cx="2599069" cy="2631969"/>
          </a:xfrm>
          <a:custGeom>
            <a:avLst/>
            <a:gdLst/>
            <a:ahLst/>
            <a:cxnLst/>
            <a:rect r="r" b="b" t="t" l="l"/>
            <a:pathLst>
              <a:path h="2631969" w="2599069">
                <a:moveTo>
                  <a:pt x="0" y="0"/>
                </a:moveTo>
                <a:lnTo>
                  <a:pt x="2599069" y="0"/>
                </a:lnTo>
                <a:lnTo>
                  <a:pt x="2599069" y="2631969"/>
                </a:lnTo>
                <a:lnTo>
                  <a:pt x="0" y="26319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186735">
            <a:off x="15401385" y="7129003"/>
            <a:ext cx="2569379" cy="2813188"/>
          </a:xfrm>
          <a:custGeom>
            <a:avLst/>
            <a:gdLst/>
            <a:ahLst/>
            <a:cxnLst/>
            <a:rect r="r" b="b" t="t" l="l"/>
            <a:pathLst>
              <a:path h="2813188" w="2569379">
                <a:moveTo>
                  <a:pt x="0" y="0"/>
                </a:moveTo>
                <a:lnTo>
                  <a:pt x="2569379" y="0"/>
                </a:lnTo>
                <a:lnTo>
                  <a:pt x="2569379" y="2813189"/>
                </a:lnTo>
                <a:lnTo>
                  <a:pt x="0" y="2813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95928">
            <a:off x="3377962" y="3033524"/>
            <a:ext cx="11531809" cy="598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Munculnya DCA tidak terlepas da</a:t>
            </a: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ri berbagai permasalahan yang dihadapi organisasi modern dalam mengelola data.</a:t>
            </a:r>
          </a:p>
          <a:p>
            <a:pPr algn="ctr">
              <a:lnSpc>
                <a:spcPts val="2964"/>
              </a:lnSpc>
            </a:pP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Beberapa di antaranya adalah:</a:t>
            </a:r>
          </a:p>
          <a:p>
            <a:pPr algn="ctr" marL="511972" indent="-255986" lvl="1">
              <a:lnSpc>
                <a:spcPts val="2964"/>
              </a:lnSpc>
              <a:buAutoNum type="arabicPeriod" startAt="1"/>
            </a:pP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Isolasi Data (Data Silos): Banyak organisasi menyimpan data di berbagai sistem terpisah, sehingga sulit diintegrasikan.</a:t>
            </a:r>
          </a:p>
          <a:p>
            <a:pPr algn="ctr" marL="511972" indent="-255986" lvl="1">
              <a:lnSpc>
                <a:spcPts val="2964"/>
              </a:lnSpc>
              <a:buAutoNum type="arabicPeriod" startAt="1"/>
            </a:pP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Inkonsistensi Data: Data yang sama disimpan di beberapa tempat dengan nilai berbeda, menyebabkan kesalahan analisis.</a:t>
            </a:r>
          </a:p>
          <a:p>
            <a:pPr algn="ctr" marL="511972" indent="-255986" lvl="1">
              <a:lnSpc>
                <a:spcPts val="2964"/>
              </a:lnSpc>
              <a:buAutoNum type="arabicPeriod" startAt="1"/>
            </a:pP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Keamanan Lemah: Sistem tradisional sering tidak memiliki kontrol akses dan enkripsi yang memadai.</a:t>
            </a:r>
          </a:p>
          <a:p>
            <a:pPr algn="ctr" marL="511972" indent="-255986" lvl="1">
              <a:lnSpc>
                <a:spcPts val="2964"/>
              </a:lnSpc>
              <a:buAutoNum type="arabicPeriod" startAt="1"/>
            </a:pP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Skalabilitas Terbatas: Ketika jumlah pengguna meningkat, performa sistem sering menurun.</a:t>
            </a:r>
          </a:p>
          <a:p>
            <a:pPr algn="ctr">
              <a:lnSpc>
                <a:spcPts val="2964"/>
              </a:lnSpc>
            </a:pP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5.  </a:t>
            </a: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Kepemilikan Data Tidak Jelas: Sulit menentukan siapa yang berhak mengubah atau menghapus data tertentu.</a:t>
            </a:r>
          </a:p>
          <a:p>
            <a:pPr algn="ctr">
              <a:lnSpc>
                <a:spcPts val="2964"/>
              </a:lnSpc>
            </a:pPr>
            <a:r>
              <a:rPr lang="en-US" sz="2371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Dengan kondisi tersebut, DCA hadir untuk menjawab tantangan-tantangan tersebut dengan pendekatan yang lebih terstruktur dan terpusat, di mana data menjadi sumber kebenaran tunggal (single source of truth).</a:t>
            </a:r>
          </a:p>
          <a:p>
            <a:pPr algn="ctr">
              <a:lnSpc>
                <a:spcPts val="296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-83186">
            <a:off x="6800609" y="2104809"/>
            <a:ext cx="8010125" cy="61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6064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KONTEKS DAN PERMASALAHAN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09385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46370" y="0"/>
            <a:ext cx="14395259" cy="9206968"/>
          </a:xfrm>
          <a:custGeom>
            <a:avLst/>
            <a:gdLst/>
            <a:ahLst/>
            <a:cxnLst/>
            <a:rect r="r" b="b" t="t" l="l"/>
            <a:pathLst>
              <a:path h="9206968" w="14395259">
                <a:moveTo>
                  <a:pt x="0" y="0"/>
                </a:moveTo>
                <a:lnTo>
                  <a:pt x="14395260" y="0"/>
                </a:lnTo>
                <a:lnTo>
                  <a:pt x="14395260" y="9206968"/>
                </a:lnTo>
                <a:lnTo>
                  <a:pt x="0" y="9206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450274" y="8520518"/>
            <a:ext cx="3837726" cy="1429553"/>
          </a:xfrm>
          <a:custGeom>
            <a:avLst/>
            <a:gdLst/>
            <a:ahLst/>
            <a:cxnLst/>
            <a:rect r="r" b="b" t="t" l="l"/>
            <a:pathLst>
              <a:path h="1429553" w="3837726">
                <a:moveTo>
                  <a:pt x="3837726" y="0"/>
                </a:moveTo>
                <a:lnTo>
                  <a:pt x="0" y="0"/>
                </a:lnTo>
                <a:lnTo>
                  <a:pt x="0" y="1429553"/>
                </a:lnTo>
                <a:lnTo>
                  <a:pt x="3837726" y="1429553"/>
                </a:lnTo>
                <a:lnTo>
                  <a:pt x="383772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69015" y="1028700"/>
            <a:ext cx="2807880" cy="2859106"/>
          </a:xfrm>
          <a:custGeom>
            <a:avLst/>
            <a:gdLst/>
            <a:ahLst/>
            <a:cxnLst/>
            <a:rect r="r" b="b" t="t" l="l"/>
            <a:pathLst>
              <a:path h="2859106" w="2807880">
                <a:moveTo>
                  <a:pt x="0" y="0"/>
                </a:moveTo>
                <a:lnTo>
                  <a:pt x="2807881" y="0"/>
                </a:lnTo>
                <a:lnTo>
                  <a:pt x="2807881" y="2859106"/>
                </a:lnTo>
                <a:lnTo>
                  <a:pt x="0" y="2859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48306" y="6219963"/>
            <a:ext cx="3686621" cy="1854063"/>
          </a:xfrm>
          <a:custGeom>
            <a:avLst/>
            <a:gdLst/>
            <a:ahLst/>
            <a:cxnLst/>
            <a:rect r="r" b="b" t="t" l="l"/>
            <a:pathLst>
              <a:path h="1854063" w="3686621">
                <a:moveTo>
                  <a:pt x="0" y="0"/>
                </a:moveTo>
                <a:lnTo>
                  <a:pt x="3686621" y="0"/>
                </a:lnTo>
                <a:lnTo>
                  <a:pt x="3686621" y="1854063"/>
                </a:lnTo>
                <a:lnTo>
                  <a:pt x="0" y="18540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45563" y="2358838"/>
            <a:ext cx="12985059" cy="650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Contoh Pene</a:t>
            </a: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rapan: Registered Data-Centered Lab Management System</a:t>
            </a:r>
          </a:p>
          <a:p>
            <a:pPr algn="l">
              <a:lnSpc>
                <a:spcPts val="3491"/>
              </a:lnSpc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📍 Chiang Mai University, Thailand (Zheng et al., 2023)</a:t>
            </a:r>
          </a:p>
          <a:p>
            <a:pPr algn="l">
              <a:lnSpc>
                <a:spcPts val="3491"/>
              </a:lnSpc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Sebelum penerapan DCA, laboratorium kampus menghadapi masalah berupa data hasil eksperimen yang tersebar di berbagai server dan tidak memiliki sistem keamanan memadai.</a:t>
            </a:r>
          </a:p>
          <a:p>
            <a:pPr algn="l">
              <a:lnSpc>
                <a:spcPts val="3491"/>
              </a:lnSpc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Hal ini menyebabkan banyak data hilang, duplikat, bahkan sulit diverifikasi keasliannya.</a:t>
            </a:r>
          </a:p>
          <a:p>
            <a:pPr algn="l">
              <a:lnSpc>
                <a:spcPts val="3491"/>
              </a:lnSpc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Setelah menggunakan DCA dengan sistem kepemilikan data terdaftar (Registered Data Ownership), setiap data eksperimen memiliki identitas unik yang hanya bisa diakses oleh pengguna berizin.</a:t>
            </a:r>
          </a:p>
          <a:p>
            <a:pPr algn="l">
              <a:lnSpc>
                <a:spcPts val="3491"/>
              </a:lnSpc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Seluruh proses penyimpanan menggunakan enkripsi hybrid dan audit log otomatis.</a:t>
            </a:r>
          </a:p>
          <a:p>
            <a:pPr algn="l">
              <a:lnSpc>
                <a:spcPts val="3491"/>
              </a:lnSpc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Hasil Implementasi:</a:t>
            </a:r>
          </a:p>
          <a:p>
            <a:pPr algn="l" marL="603120" indent="-301560" lvl="1">
              <a:lnSpc>
                <a:spcPts val="3491"/>
              </a:lnSpc>
              <a:buFont typeface="Arial"/>
              <a:buChar char="•"/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Efisiensi pelaporan dan pencarian data meningkat hingga 50%.</a:t>
            </a:r>
          </a:p>
          <a:p>
            <a:pPr algn="l" marL="603120" indent="-301560" lvl="1">
              <a:lnSpc>
                <a:spcPts val="3491"/>
              </a:lnSpc>
              <a:buFont typeface="Arial"/>
              <a:buChar char="•"/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Tidak ada kebocoran data yang terdeteksi.</a:t>
            </a:r>
          </a:p>
          <a:p>
            <a:pPr algn="l" marL="603120" indent="-301560" lvl="1">
              <a:lnSpc>
                <a:spcPts val="3491"/>
              </a:lnSpc>
              <a:buFont typeface="Arial"/>
              <a:buChar char="•"/>
            </a:pPr>
            <a:r>
              <a:rPr lang="en-US" sz="279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Sistem mampu menangani lonjakan pengguna hingga 10 kali lipat tanpa penurunan performa.</a:t>
            </a:r>
          </a:p>
          <a:p>
            <a:pPr algn="l">
              <a:lnSpc>
                <a:spcPts val="349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55602" y="654656"/>
            <a:ext cx="8389424" cy="87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9"/>
              </a:lnSpc>
            </a:pPr>
            <a:r>
              <a:rPr lang="en-US" sz="8650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Studi kasus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09385" y="-701038"/>
            <a:ext cx="23506771" cy="11753385"/>
            <a:chOff x="0" y="0"/>
            <a:chExt cx="31342361" cy="15671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671180" y="0"/>
              <a:ext cx="15671180" cy="15671180"/>
            </a:xfrm>
            <a:custGeom>
              <a:avLst/>
              <a:gdLst/>
              <a:ahLst/>
              <a:cxnLst/>
              <a:rect r="r" b="b" t="t" l="l"/>
              <a:pathLst>
                <a:path h="15671180" w="15671180">
                  <a:moveTo>
                    <a:pt x="0" y="0"/>
                  </a:moveTo>
                  <a:lnTo>
                    <a:pt x="15671181" y="0"/>
                  </a:lnTo>
                  <a:lnTo>
                    <a:pt x="15671181" y="15671180"/>
                  </a:lnTo>
                  <a:lnTo>
                    <a:pt x="0" y="15671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71180" cy="15671180"/>
            </a:xfrm>
            <a:custGeom>
              <a:avLst/>
              <a:gdLst/>
              <a:ahLst/>
              <a:cxnLst/>
              <a:rect r="r" b="b" t="t" l="l"/>
              <a:pathLst>
                <a:path h="15671180" w="15671180">
                  <a:moveTo>
                    <a:pt x="0" y="0"/>
                  </a:moveTo>
                  <a:lnTo>
                    <a:pt x="15671180" y="0"/>
                  </a:lnTo>
                  <a:lnTo>
                    <a:pt x="15671180" y="15671180"/>
                  </a:lnTo>
                  <a:lnTo>
                    <a:pt x="0" y="15671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555805" y="1779235"/>
            <a:ext cx="5744482" cy="6728530"/>
          </a:xfrm>
          <a:custGeom>
            <a:avLst/>
            <a:gdLst/>
            <a:ahLst/>
            <a:cxnLst/>
            <a:rect r="r" b="b" t="t" l="l"/>
            <a:pathLst>
              <a:path h="6728530" w="5744482">
                <a:moveTo>
                  <a:pt x="0" y="0"/>
                </a:moveTo>
                <a:lnTo>
                  <a:pt x="5744482" y="0"/>
                </a:lnTo>
                <a:lnTo>
                  <a:pt x="5744482" y="6728530"/>
                </a:lnTo>
                <a:lnTo>
                  <a:pt x="0" y="6728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860423" y="1779235"/>
            <a:ext cx="5744482" cy="6728530"/>
          </a:xfrm>
          <a:custGeom>
            <a:avLst/>
            <a:gdLst/>
            <a:ahLst/>
            <a:cxnLst/>
            <a:rect r="r" b="b" t="t" l="l"/>
            <a:pathLst>
              <a:path h="6728530" w="5744482">
                <a:moveTo>
                  <a:pt x="5744482" y="0"/>
                </a:moveTo>
                <a:lnTo>
                  <a:pt x="0" y="0"/>
                </a:lnTo>
                <a:lnTo>
                  <a:pt x="0" y="6728530"/>
                </a:lnTo>
                <a:lnTo>
                  <a:pt x="5744482" y="6728530"/>
                </a:lnTo>
                <a:lnTo>
                  <a:pt x="57444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9255" y="7965841"/>
            <a:ext cx="4617516" cy="1435628"/>
          </a:xfrm>
          <a:custGeom>
            <a:avLst/>
            <a:gdLst/>
            <a:ahLst/>
            <a:cxnLst/>
            <a:rect r="r" b="b" t="t" l="l"/>
            <a:pathLst>
              <a:path h="1435628" w="4617516">
                <a:moveTo>
                  <a:pt x="0" y="0"/>
                </a:moveTo>
                <a:lnTo>
                  <a:pt x="4617516" y="0"/>
                </a:lnTo>
                <a:lnTo>
                  <a:pt x="4617516" y="1435628"/>
                </a:lnTo>
                <a:lnTo>
                  <a:pt x="0" y="143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544000" y="1934738"/>
            <a:ext cx="3364572" cy="1046076"/>
          </a:xfrm>
          <a:custGeom>
            <a:avLst/>
            <a:gdLst/>
            <a:ahLst/>
            <a:cxnLst/>
            <a:rect r="r" b="b" t="t" l="l"/>
            <a:pathLst>
              <a:path h="1046076" w="3364572">
                <a:moveTo>
                  <a:pt x="3364572" y="0"/>
                </a:moveTo>
                <a:lnTo>
                  <a:pt x="0" y="0"/>
                </a:lnTo>
                <a:lnTo>
                  <a:pt x="0" y="1046076"/>
                </a:lnTo>
                <a:lnTo>
                  <a:pt x="3364572" y="1046076"/>
                </a:lnTo>
                <a:lnTo>
                  <a:pt x="33645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20572" y="589787"/>
            <a:ext cx="12626437" cy="10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3"/>
              </a:lnSpc>
            </a:pPr>
            <a:r>
              <a:rPr lang="en-US" sz="9929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KELEBIHAN DAN KELEMAHAN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1451" y="3012620"/>
            <a:ext cx="5122425" cy="553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70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Kelebihan:</a:t>
            </a:r>
          </a:p>
          <a:p>
            <a:pPr algn="l" marL="583373" indent="-291686" lvl="1">
              <a:lnSpc>
                <a:spcPts val="3377"/>
              </a:lnSpc>
              <a:buAutoNum type="arabicPeriod" startAt="1"/>
            </a:pPr>
            <a:r>
              <a:rPr lang="en-US" sz="270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Data t</a:t>
            </a:r>
            <a:r>
              <a:rPr lang="en-US" sz="270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erintegrasi secara menyeluruh dan selalu konsisten.</a:t>
            </a:r>
          </a:p>
          <a:p>
            <a:pPr algn="l" marL="583373" indent="-291686" lvl="1">
              <a:lnSpc>
                <a:spcPts val="3377"/>
              </a:lnSpc>
              <a:buAutoNum type="arabicPeriod" startAt="1"/>
            </a:pPr>
            <a:r>
              <a:rPr lang="en-US" sz="270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Keamanan tinggi berkat sistem enkripsi dan kontrol akses.</a:t>
            </a:r>
          </a:p>
          <a:p>
            <a:pPr algn="l" marL="583373" indent="-291686" lvl="1">
              <a:lnSpc>
                <a:spcPts val="3377"/>
              </a:lnSpc>
              <a:buAutoNum type="arabicPeriod" startAt="1"/>
            </a:pPr>
            <a:r>
              <a:rPr lang="en-US" sz="270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Memudahkan pemeliharaan dan pengembangan sistem.</a:t>
            </a:r>
          </a:p>
          <a:p>
            <a:pPr algn="l" marL="583373" indent="-291686" lvl="1">
              <a:lnSpc>
                <a:spcPts val="3377"/>
              </a:lnSpc>
              <a:buAutoNum type="arabicPeriod" startAt="1"/>
            </a:pPr>
            <a:r>
              <a:rPr lang="en-US" sz="270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Meningkatkan kolaborasi antar bagian karena berbagi data yang sama.</a:t>
            </a:r>
          </a:p>
          <a:p>
            <a:pPr algn="l" marL="583373" indent="-291686" lvl="1">
              <a:lnSpc>
                <a:spcPts val="3377"/>
              </a:lnSpc>
              <a:buAutoNum type="arabicPeriod" startAt="1"/>
            </a:pPr>
            <a:r>
              <a:rPr lang="en-US" sz="270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Ef</a:t>
            </a:r>
            <a:r>
              <a:rPr lang="en-US" sz="2702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isien untuk analisis data dan pengambilan keputusan.</a:t>
            </a:r>
          </a:p>
          <a:p>
            <a:pPr algn="l">
              <a:lnSpc>
                <a:spcPts val="337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733897" y="2971289"/>
            <a:ext cx="5214612" cy="499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8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Kelemahan:</a:t>
            </a:r>
          </a:p>
          <a:p>
            <a:pPr algn="l" marL="622485" indent="-311243" lvl="1">
              <a:lnSpc>
                <a:spcPts val="3604"/>
              </a:lnSpc>
              <a:buAutoNum type="arabicPeriod" startAt="1"/>
            </a:pPr>
            <a:r>
              <a:rPr lang="en-US" sz="288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Ketergantungan</a:t>
            </a:r>
            <a:r>
              <a:rPr lang="en-US" sz="288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tinggi pada server pusat (single point of failure).</a:t>
            </a:r>
          </a:p>
          <a:p>
            <a:pPr algn="l" marL="622485" indent="-311243" lvl="1">
              <a:lnSpc>
                <a:spcPts val="3604"/>
              </a:lnSpc>
              <a:buAutoNum type="arabicPeriod" startAt="1"/>
            </a:pPr>
            <a:r>
              <a:rPr lang="en-US" sz="288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Jika pusat data terganggu, seluruh sistem ikut terhenti.</a:t>
            </a:r>
          </a:p>
          <a:p>
            <a:pPr algn="l" marL="622485" indent="-311243" lvl="1">
              <a:lnSpc>
                <a:spcPts val="3604"/>
              </a:lnSpc>
              <a:buAutoNum type="arabicPeriod" startAt="1"/>
            </a:pPr>
            <a:r>
              <a:rPr lang="en-US" sz="288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Impl</a:t>
            </a:r>
            <a:r>
              <a:rPr lang="en-US" sz="288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ementasi awal memerlukan biaya dan sumber daya besar.</a:t>
            </a:r>
          </a:p>
          <a:p>
            <a:pPr algn="l" marL="622485" indent="-311243" lvl="1">
              <a:lnSpc>
                <a:spcPts val="3604"/>
              </a:lnSpc>
              <a:buAutoNum type="arabicPeriod" startAt="1"/>
            </a:pPr>
            <a:r>
              <a:rPr lang="en-US" sz="2883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Butuh tim ahli khusus untuk mengatur data governance.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587994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09385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946370" y="0"/>
            <a:ext cx="14395259" cy="9206968"/>
          </a:xfrm>
          <a:custGeom>
            <a:avLst/>
            <a:gdLst/>
            <a:ahLst/>
            <a:cxnLst/>
            <a:rect r="r" b="b" t="t" l="l"/>
            <a:pathLst>
              <a:path h="9206968" w="14395259">
                <a:moveTo>
                  <a:pt x="14395260" y="0"/>
                </a:moveTo>
                <a:lnTo>
                  <a:pt x="0" y="0"/>
                </a:lnTo>
                <a:lnTo>
                  <a:pt x="0" y="9206968"/>
                </a:lnTo>
                <a:lnTo>
                  <a:pt x="14395260" y="9206968"/>
                </a:lnTo>
                <a:lnTo>
                  <a:pt x="143952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350329"/>
            <a:ext cx="4219768" cy="1571864"/>
          </a:xfrm>
          <a:custGeom>
            <a:avLst/>
            <a:gdLst/>
            <a:ahLst/>
            <a:cxnLst/>
            <a:rect r="r" b="b" t="t" l="l"/>
            <a:pathLst>
              <a:path h="1571864" w="4219768">
                <a:moveTo>
                  <a:pt x="0" y="0"/>
                </a:moveTo>
                <a:lnTo>
                  <a:pt x="4219768" y="0"/>
                </a:lnTo>
                <a:lnTo>
                  <a:pt x="4219768" y="1571864"/>
                </a:lnTo>
                <a:lnTo>
                  <a:pt x="0" y="1571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72866" y="1028700"/>
            <a:ext cx="2586434" cy="2633619"/>
          </a:xfrm>
          <a:custGeom>
            <a:avLst/>
            <a:gdLst/>
            <a:ahLst/>
            <a:cxnLst/>
            <a:rect r="r" b="b" t="t" l="l"/>
            <a:pathLst>
              <a:path h="2633619" w="2586434">
                <a:moveTo>
                  <a:pt x="0" y="0"/>
                </a:moveTo>
                <a:lnTo>
                  <a:pt x="2586434" y="0"/>
                </a:lnTo>
                <a:lnTo>
                  <a:pt x="2586434" y="2633619"/>
                </a:lnTo>
                <a:lnTo>
                  <a:pt x="0" y="2633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20693" y="4663388"/>
            <a:ext cx="3691318" cy="4114800"/>
          </a:xfrm>
          <a:custGeom>
            <a:avLst/>
            <a:gdLst/>
            <a:ahLst/>
            <a:cxnLst/>
            <a:rect r="r" b="b" t="t" l="l"/>
            <a:pathLst>
              <a:path h="4114800" w="3691318">
                <a:moveTo>
                  <a:pt x="0" y="0"/>
                </a:moveTo>
                <a:lnTo>
                  <a:pt x="3691318" y="0"/>
                </a:lnTo>
                <a:lnTo>
                  <a:pt x="36913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88510" y="2996550"/>
            <a:ext cx="12132183" cy="578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818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Seca</a:t>
            </a:r>
            <a:r>
              <a:rPr lang="en-US" sz="2818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ra keseluruhan, Data-Centered Architecture merupakan pendekatan modern dalam pengembangan perangkat lunak yang menempatkan data sebagai inti dari seluruh aktivitas sistem.</a:t>
            </a:r>
          </a:p>
          <a:p>
            <a:pPr algn="ctr">
              <a:lnSpc>
                <a:spcPts val="3523"/>
              </a:lnSpc>
            </a:pPr>
            <a:r>
              <a:rPr lang="en-US" sz="2818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Pendekatan ini menekankan pentingnya integrasi, keamanan, dan efisiensi pengelolaan data.</a:t>
            </a:r>
          </a:p>
          <a:p>
            <a:pPr algn="ctr">
              <a:lnSpc>
                <a:spcPts val="3523"/>
              </a:lnSpc>
            </a:pPr>
            <a:r>
              <a:rPr lang="en-US" sz="2818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Dengan repositori terpusat dan pengendalian akses yang ketat, DCA mampu meminimalkan duplikasi, meningkatkan keandalan, serta mempermudah analisis dan pengambilan keputusan.</a:t>
            </a:r>
          </a:p>
          <a:p>
            <a:pPr algn="ctr">
              <a:lnSpc>
                <a:spcPts val="3523"/>
              </a:lnSpc>
            </a:pPr>
            <a:r>
              <a:rPr lang="en-US" sz="2818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Namun, seperti teknologi lain, DCA juga memiliki tantangan, terutama pada aspek ketergantungan terhadap pusat data dan biaya infrastruktur.</a:t>
            </a:r>
          </a:p>
          <a:p>
            <a:pPr algn="ctr">
              <a:lnSpc>
                <a:spcPts val="3523"/>
              </a:lnSpc>
            </a:pPr>
            <a:r>
              <a:rPr lang="en-US" sz="2818">
                <a:solidFill>
                  <a:srgbClr val="000000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 Oleh karena itu, diperlukan desain arsitektur yang matang serta strategi backup dan redundancy untuk memastikan sistem tetap berjalan stabil.</a:t>
            </a:r>
          </a:p>
          <a:p>
            <a:pPr algn="ctr">
              <a:lnSpc>
                <a:spcPts val="352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96880" y="2119709"/>
            <a:ext cx="6494240" cy="92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7"/>
              </a:lnSpc>
            </a:pPr>
            <a:r>
              <a:rPr lang="en-US" sz="9224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Kesimpulan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09385" y="-701038"/>
            <a:ext cx="11753385" cy="11753385"/>
          </a:xfrm>
          <a:custGeom>
            <a:avLst/>
            <a:gdLst/>
            <a:ahLst/>
            <a:cxnLst/>
            <a:rect r="r" b="b" t="t" l="l"/>
            <a:pathLst>
              <a:path h="11753385" w="11753385">
                <a:moveTo>
                  <a:pt x="0" y="0"/>
                </a:moveTo>
                <a:lnTo>
                  <a:pt x="11753385" y="0"/>
                </a:lnTo>
                <a:lnTo>
                  <a:pt x="11753385" y="11753385"/>
                </a:lnTo>
                <a:lnTo>
                  <a:pt x="0" y="1175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955211" y="5412601"/>
            <a:ext cx="10324024" cy="3845699"/>
          </a:xfrm>
          <a:custGeom>
            <a:avLst/>
            <a:gdLst/>
            <a:ahLst/>
            <a:cxnLst/>
            <a:rect r="r" b="b" t="t" l="l"/>
            <a:pathLst>
              <a:path h="3845699" w="10324024">
                <a:moveTo>
                  <a:pt x="10324024" y="0"/>
                </a:moveTo>
                <a:lnTo>
                  <a:pt x="0" y="0"/>
                </a:lnTo>
                <a:lnTo>
                  <a:pt x="0" y="3845699"/>
                </a:lnTo>
                <a:lnTo>
                  <a:pt x="10324024" y="3845699"/>
                </a:lnTo>
                <a:lnTo>
                  <a:pt x="103240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25553" y="1194316"/>
            <a:ext cx="10853682" cy="4042997"/>
          </a:xfrm>
          <a:custGeom>
            <a:avLst/>
            <a:gdLst/>
            <a:ahLst/>
            <a:cxnLst/>
            <a:rect r="r" b="b" t="t" l="l"/>
            <a:pathLst>
              <a:path h="4042997" w="10853682">
                <a:moveTo>
                  <a:pt x="0" y="0"/>
                </a:moveTo>
                <a:lnTo>
                  <a:pt x="10853682" y="0"/>
                </a:lnTo>
                <a:lnTo>
                  <a:pt x="10853682" y="4042997"/>
                </a:lnTo>
                <a:lnTo>
                  <a:pt x="0" y="4042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79016" y="5981192"/>
            <a:ext cx="6656413" cy="255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8"/>
              </a:lnSpc>
            </a:pPr>
            <a:r>
              <a:rPr lang="en-US" sz="19198" spc="1401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Kasih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5964013"/>
            <a:ext cx="4425553" cy="5143500"/>
          </a:xfrm>
          <a:custGeom>
            <a:avLst/>
            <a:gdLst/>
            <a:ahLst/>
            <a:cxnLst/>
            <a:rect r="r" b="b" t="t" l="l"/>
            <a:pathLst>
              <a:path h="5143500" w="4425553">
                <a:moveTo>
                  <a:pt x="0" y="0"/>
                </a:moveTo>
                <a:lnTo>
                  <a:pt x="4425553" y="0"/>
                </a:lnTo>
                <a:lnTo>
                  <a:pt x="442555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56991" y="3917781"/>
            <a:ext cx="3102309" cy="2046231"/>
          </a:xfrm>
          <a:custGeom>
            <a:avLst/>
            <a:gdLst/>
            <a:ahLst/>
            <a:cxnLst/>
            <a:rect r="r" b="b" t="t" l="l"/>
            <a:pathLst>
              <a:path h="2046231" w="3102309">
                <a:moveTo>
                  <a:pt x="0" y="0"/>
                </a:moveTo>
                <a:lnTo>
                  <a:pt x="3102309" y="0"/>
                </a:lnTo>
                <a:lnTo>
                  <a:pt x="3102309" y="2046232"/>
                </a:lnTo>
                <a:lnTo>
                  <a:pt x="0" y="20462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50441" y="1556266"/>
            <a:ext cx="8155989" cy="255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8"/>
              </a:lnSpc>
            </a:pPr>
            <a:r>
              <a:rPr lang="en-US" sz="19198" spc="1401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Terima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77624" y="1028700"/>
            <a:ext cx="2147929" cy="2187114"/>
          </a:xfrm>
          <a:custGeom>
            <a:avLst/>
            <a:gdLst/>
            <a:ahLst/>
            <a:cxnLst/>
            <a:rect r="r" b="b" t="t" l="l"/>
            <a:pathLst>
              <a:path h="2187114" w="2147929">
                <a:moveTo>
                  <a:pt x="0" y="0"/>
                </a:moveTo>
                <a:lnTo>
                  <a:pt x="2147929" y="0"/>
                </a:lnTo>
                <a:lnTo>
                  <a:pt x="2147929" y="2187114"/>
                </a:lnTo>
                <a:lnTo>
                  <a:pt x="0" y="21871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DAG3FuhzgoY</dc:identifier>
  <dcterms:modified xsi:type="dcterms:W3CDTF">2011-08-01T06:04:30Z</dcterms:modified>
  <cp:revision>1</cp:revision>
  <dc:title>Tugas2_C3_Kelompok8</dc:title>
</cp:coreProperties>
</file>